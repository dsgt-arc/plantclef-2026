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PlantCLEF 2026 — Problem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Calibri"/>
              </a:defRPr>
            </a:pPr>
            <a:r>
              <a:t>Multi-label plant species identification in vegetation plot photographs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4572000" cy="173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0" y="1005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09688"/>
                </a:solidFill>
                <a:latin typeface="Calibri"/>
              </a:rPr>
              <a:t>▸ </a:t>
            </a:r>
            <a:r>
              <a:rPr sz="1000">
                <a:solidFill>
                  <a:srgbClr val="333344"/>
                </a:solidFill>
                <a:latin typeface="Calibri"/>
              </a:rPr>
              <a:t>Train on single-plant close-ups, test on multi-species plots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9688"/>
                </a:solidFill>
                <a:latin typeface="Calibri"/>
              </a:rPr>
              <a:t>▸ </a:t>
            </a:r>
            <a:r>
              <a:rPr sz="1000">
                <a:solidFill>
                  <a:srgbClr val="333344"/>
                </a:solidFill>
                <a:latin typeface="Calibri"/>
              </a:rPr>
              <a:t>7,806 candidate species — extreme long-tail distribution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9688"/>
                </a:solidFill>
                <a:latin typeface="Calibri"/>
              </a:rPr>
              <a:t>▸ </a:t>
            </a:r>
            <a:r>
              <a:rPr sz="1000">
                <a:solidFill>
                  <a:srgbClr val="333344"/>
                </a:solidFill>
                <a:latin typeface="Calibri"/>
              </a:rPr>
              <a:t>~2,105 test images; 76% multi-visit, 24% single-visit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9688"/>
                </a:solidFill>
                <a:latin typeface="Calibri"/>
              </a:rPr>
              <a:t>▸ </a:t>
            </a:r>
            <a:r>
              <a:rPr sz="1000">
                <a:solidFill>
                  <a:srgbClr val="333344"/>
                </a:solidFill>
                <a:latin typeface="Calibri"/>
              </a:rPr>
              <a:t>Evaluation: multi-label F1 (Kaggle public leaderboard)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09688"/>
                </a:solidFill>
                <a:latin typeface="Calibri"/>
              </a:rPr>
              <a:t>▸ </a:t>
            </a:r>
            <a:r>
              <a:rPr sz="1000">
                <a:solidFill>
                  <a:srgbClr val="333344"/>
                </a:solidFill>
                <a:latin typeface="Calibri"/>
              </a:rPr>
              <a:t>DINOv2 ViT-B/14 pretrained embeddings (no fine-tuning)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9688"/>
                </a:solidFill>
                <a:latin typeface="Calibri"/>
              </a:rPr>
              <a:t>▸ </a:t>
            </a:r>
            <a:r>
              <a:rPr sz="1000">
                <a:solidFill>
                  <a:srgbClr val="333344"/>
                </a:solidFill>
                <a:latin typeface="Calibri"/>
              </a:rPr>
              <a:t>Multi-scale tiling (77 tiles) to bridge resolution gap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9688"/>
                </a:solidFill>
                <a:latin typeface="Calibri"/>
              </a:rPr>
              <a:t>▸ </a:t>
            </a:r>
            <a:r>
              <a:rPr sz="1000">
                <a:solidFill>
                  <a:srgbClr val="333344"/>
                </a:solidFill>
                <a:latin typeface="Calibri"/>
              </a:rPr>
              <a:t>kNN retrieval + softmax ensemble with temporal location prior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926080"/>
            <a:ext cx="2743200" cy="1645920"/>
          </a:xfrm>
          <a:prstGeom prst="rect">
            <a:avLst/>
          </a:prstGeom>
          <a:solidFill>
            <a:srgbClr val="009688"/>
          </a:solidFill>
          <a:ln w="63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Current Best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29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F1 = 0.418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+48.6% over baseline (0.281)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Threshold Optimization &amp; Multi-Scale Tiling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Calibri"/>
              </a:defRPr>
            </a:pPr>
            <a:r>
              <a:t>Exp-6 / Exp-7 / Exp-8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Calibri"/>
              </a:defRPr>
            </a:pPr>
            <a:r>
              <a:t>Tiling Scheme Comparison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41148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868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Calibri"/>
              </a:defRPr>
            </a:pPr>
            <a:r>
              <a:t>Location Prior Weight (α)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43000"/>
            <a:ext cx="41148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09688"/>
                </a:solidFill>
                <a:latin typeface="Calibri"/>
              </a:rPr>
              <a:t>▸ </a:t>
            </a:r>
            <a:r>
              <a:rPr sz="1000">
                <a:solidFill>
                  <a:srgbClr val="333344"/>
                </a:solidFill>
                <a:latin typeface="Calibri"/>
              </a:rPr>
              <a:t>Fine scales (4×4, 5×5, 6×6) capture individual plants; coarse scales (1×1–3×3) introduce false positives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9688"/>
                </a:solidFill>
                <a:latin typeface="Calibri"/>
              </a:rPr>
              <a:t>▸ </a:t>
            </a:r>
            <a:r>
              <a:rPr sz="1000">
                <a:solidFill>
                  <a:srgbClr val="333344"/>
                </a:solidFill>
                <a:latin typeface="Calibri"/>
              </a:rPr>
              <a:t>3 complementary scales outperform any 2 — optimal ~3 species/image, not 10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9688"/>
                </a:solidFill>
                <a:latin typeface="Calibri"/>
              </a:rPr>
              <a:t>▸ </a:t>
            </a:r>
            <a:r>
              <a:rPr sz="1000">
                <a:solidFill>
                  <a:srgbClr val="333344"/>
                </a:solidFill>
                <a:latin typeface="Calibri"/>
              </a:rPr>
              <a:t>77 tiles = more noise → location prior shifts from 40% to 95% of final prediction   |   F1: 0.357 → 0.401 (+12.3%)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kNN Retrieval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Calibri"/>
              </a:defRPr>
            </a:pPr>
            <a:r>
              <a:t>Exp-9: FAISS-based kNN blended with softmax  |  F1: 0.401 → 0.418 (+4.1%)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Calibri"/>
              </a:defRPr>
            </a:pPr>
            <a:r>
              <a:t>Softmax vs kNN Weight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411480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868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Calibri"/>
              </a:defRPr>
            </a:pPr>
            <a:r>
              <a:t>Single-Visit vs Multi-Visit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97280"/>
            <a:ext cx="411480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749039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009688"/>
                </a:solidFill>
                <a:latin typeface="Calibri"/>
              </a:rPr>
              <a:t>▸ </a:t>
            </a:r>
            <a:r>
              <a:rPr sz="1000">
                <a:solidFill>
                  <a:srgbClr val="333344"/>
                </a:solidFill>
                <a:latin typeface="Calibri"/>
              </a:rPr>
              <a:t>kNN only helps when temporal prior acts as safety net (multi-visit); pure softmax is best for single-visit images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9688"/>
                </a:solidFill>
                <a:latin typeface="Calibri"/>
              </a:rPr>
              <a:t>▸ </a:t>
            </a:r>
            <a:r>
              <a:rPr sz="1000">
                <a:solidFill>
                  <a:srgbClr val="333344"/>
                </a:solidFill>
                <a:latin typeface="Calibri"/>
              </a:rPr>
              <a:t>Optimal: β_multi=0.80 (20% kNN), β_single=1.00 (no kNN)  —  FAISS IndexFlatIP, 860K embeddings, k=20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009688"/>
                </a:solidFill>
                <a:latin typeface="Calibri"/>
              </a:rPr>
              <a:t>▸ </a:t>
            </a:r>
            <a:r>
              <a:rPr sz="1000">
                <a:solidFill>
                  <a:srgbClr val="333344"/>
                </a:solidFill>
                <a:latin typeface="Calibri"/>
              </a:rPr>
              <a:t>Rare species boosting (inverse frequency weighting) hurts — too few quality training samples for tail species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77"/>
                </a:solidFill>
                <a:latin typeface="Calibri"/>
              </a:defRPr>
            </a:pPr>
            <a:r>
              <a:t>F1: 0.281 → 0.418 (+48.6% relative)  |  Public Leaderboard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6400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868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Calibri"/>
              </a:defRPr>
            </a:pPr>
            <a:r>
              <a:t>Top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1887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688"/>
                </a:solidFill>
                <a:latin typeface="Calibri"/>
              </a:rPr>
              <a:t>+0.044  </a:t>
            </a:r>
            <a:r>
              <a:rPr sz="900" b="0">
                <a:solidFill>
                  <a:srgbClr val="333344"/>
                </a:solidFill>
                <a:latin typeface="Calibri"/>
              </a:rPr>
              <a:t>Multi-Scale Tiling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5361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Calibri"/>
              </a:rPr>
              <a:t>+0.039  </a:t>
            </a:r>
            <a:r>
              <a:rPr sz="900" b="0">
                <a:solidFill>
                  <a:srgbClr val="333344"/>
                </a:solidFill>
                <a:latin typeface="Calibri"/>
              </a:rPr>
              <a:t>max_prob Aggregation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88366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Calibri"/>
              </a:rPr>
              <a:t>+0.020  </a:t>
            </a:r>
            <a:r>
              <a:rPr sz="900" b="0">
                <a:solidFill>
                  <a:srgbClr val="333344"/>
                </a:solidFill>
                <a:latin typeface="Calibri"/>
              </a:rPr>
              <a:t>Temporal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23113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  <a:latin typeface="Calibri"/>
              </a:rPr>
              <a:t>+0.017  </a:t>
            </a:r>
            <a:r>
              <a:rPr sz="900" b="0">
                <a:solidFill>
                  <a:srgbClr val="333344"/>
                </a:solidFill>
                <a:latin typeface="Calibri"/>
              </a:rPr>
              <a:t>kNN Ensemble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57860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86C1"/>
                </a:solidFill>
                <a:latin typeface="Calibri"/>
              </a:rPr>
              <a:t>+0.016  </a:t>
            </a:r>
            <a:r>
              <a:rPr sz="900" b="0">
                <a:solidFill>
                  <a:srgbClr val="333344"/>
                </a:solidFill>
                <a:latin typeface="Calibri"/>
              </a:rPr>
              <a:t>JPEG85 Preproc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88"/>
                </a:solidFill>
                <a:latin typeface="Calibri"/>
              </a:defRPr>
            </a:pPr>
            <a:r>
              <a:t>Final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44"/>
                </a:solidFill>
                <a:latin typeface="Consolas"/>
              </a:defRPr>
            </a:pPr>
            <a:r>
              <a:t>Tiling: 4×4+5×5+6×6 (77 tiles)   Model: DINOv2 ViT-B/14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2511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44"/>
                </a:solidFill>
                <a:latin typeface="Consolas"/>
              </a:defRPr>
            </a:pPr>
            <a:r>
              <a:t>kNN: FAISS k=20, β_multi=0.80, β_single=1.00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8114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44"/>
                </a:solidFill>
                <a:latin typeface="Consolas"/>
              </a:defRPr>
            </a:pPr>
            <a:r>
              <a:t>Aggregation: max_prob → temporal fusion (α=0.15) → thr=0.100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7947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069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50" b="1">
                <a:solidFill>
                  <a:srgbClr val="E67E22"/>
                </a:solidFill>
                <a:latin typeface="Calibri"/>
              </a:rPr>
              <a:t>▸ </a:t>
            </a:r>
            <a:r>
              <a:rPr sz="950">
                <a:solidFill>
                  <a:srgbClr val="333344"/>
                </a:solidFill>
                <a:latin typeface="Calibri"/>
              </a:rPr>
              <a:t>Knowledge distillation / noisy student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E67E22"/>
                </a:solidFill>
                <a:latin typeface="Calibri"/>
              </a:rPr>
              <a:t>▸ </a:t>
            </a:r>
            <a:r>
              <a:rPr sz="950">
                <a:solidFill>
                  <a:srgbClr val="333344"/>
                </a:solidFill>
                <a:latin typeface="Calibri"/>
              </a:rPr>
              <a:t>Fine-tune DINOv2 (LoRA)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E67E22"/>
                </a:solidFill>
                <a:latin typeface="Calibri"/>
              </a:rPr>
              <a:t>▸ </a:t>
            </a:r>
            <a:r>
              <a:rPr sz="950">
                <a:solidFill>
                  <a:srgbClr val="333344"/>
                </a:solidFill>
                <a:latin typeface="Calibri"/>
              </a:rPr>
              <a:t>Ensemble multiple architectures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